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📅 Timetable Scheduler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Discrete Mathematics &amp; Genetic Algorithm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An intelligent university timetable generator using evolutionary computation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🔬 Theoretical 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Discrete Mathematics in Scheduling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The Scheduling Problem as CSP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000000"/>
                </a:solidFill>
              </a:defRPr>
            </a:pPr>
            <a:r>
              <a:t>• Timetable scheduling is a Constraint Satisfaction Problem (CSP)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000000"/>
                </a:solidFill>
              </a:defRPr>
            </a:pPr>
            <a:r>
              <a:t>• Variables: A finite set of classes that need to be scheduled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000000"/>
                </a:solidFill>
              </a:defRPr>
            </a:pPr>
            <a:r>
              <a:t>• Domains: Discrete set of (room, time slot, instructor) combinations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000000"/>
                </a:solidFill>
              </a:defRPr>
            </a:pPr>
            <a:r>
              <a:t>• Constraints: Rules that restrict valid assignments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000000"/>
                </a:solidFill>
              </a:defRPr>
            </a:pPr>
            <a:r>
              <a:t>• This is a combinatorial optimization problem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000000"/>
                </a:solidFill>
              </a:defRPr>
            </a:pPr>
            <a:r>
              <a:t>• We seek optimal solution from exponentially large set of possibilities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📊 Graph Theory Connections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Graph Theory Concept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Scheduling Equivalent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Vertices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Classes/Courses to be scheduled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Edges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Conflicts between classes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Graph Coloring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Assigning time slots (colors)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Chromatic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Minimum time slots needed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NP-hard Problem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Requires heuristic algorithms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⚡ Computational Complexity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Aspect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Complexity Analysis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Problem Class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NP-hard (no known polynomial-time solution)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Solution 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O((R × T × I)^n) - R=rooms, T=time slots, I=instructors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Brute Force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Infeasible for realistic problem sizes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Genetic Algorithm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Polynomial time per generation, near-optimal solutions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📐 Set Theory &amp; Relations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0000"/>
                </a:solidFill>
              </a:defRPr>
            </a:pPr>
            <a:r>
              <a:t>Formal Definition of the Scheduling Problem: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19"/>
            <a:ext cx="7772400" cy="1645920"/>
          </a:xfrm>
          <a:prstGeom prst="roundRect">
            <a:avLst/>
          </a:prstGeom>
          <a:solidFill>
            <a:srgbClr val="F0F8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7406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03366"/>
                </a:solidFill>
                <a:latin typeface="Courier New"/>
              </a:defRPr>
            </a:pPr>
            <a:r>
              <a:t>Let S = {s₁, s₂, ..., sₙ} be the set of sections</a:t>
            </a:r>
          </a:p>
          <a:p>
            <a:pPr>
              <a:defRPr sz="1400">
                <a:solidFill>
                  <a:srgbClr val="003366"/>
                </a:solidFill>
                <a:latin typeface="Courier New"/>
              </a:defRPr>
            </a:pPr>
            <a:r>
              <a:t>Let T = {t₁, t₂, ..., tₘ} be the set of time slots</a:t>
            </a:r>
          </a:p>
          <a:p>
            <a:pPr>
              <a:defRPr sz="1400">
                <a:solidFill>
                  <a:srgbClr val="003366"/>
                </a:solidFill>
                <a:latin typeface="Courier New"/>
              </a:defRPr>
            </a:pPr>
            <a:r>
              <a:t>Let R = {r₁, r₂, ..., rₖ} be the set of rooms</a:t>
            </a:r>
          </a:p>
          <a:p>
            <a:pPr>
              <a:defRPr sz="1400">
                <a:solidFill>
                  <a:srgbClr val="003366"/>
                </a:solidFill>
                <a:latin typeface="Courier New"/>
              </a:defRPr>
            </a:pPr>
            <a:r>
              <a:t>Let I = {i₁, i₂, ..., iₗ} be the set of instructors</a:t>
            </a:r>
          </a:p>
          <a:p>
            <a:pPr>
              <a:defRPr sz="1400">
                <a:solidFill>
                  <a:srgbClr val="003366"/>
                </a:solidFill>
                <a:latin typeface="Courier New"/>
              </a:defRPr>
            </a:pPr>
            <a:r>
              <a:t>Let C = {c₁, c₂, ..., cₚ} be the set of courses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0000"/>
                </a:solidFill>
              </a:defRPr>
            </a:pPr>
            <a:r>
              <a:t>A valid schedule is a function: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840480"/>
            <a:ext cx="7772400" cy="548640"/>
          </a:xfrm>
          <a:prstGeom prst="roundRect">
            <a:avLst/>
          </a:prstGeom>
          <a:solidFill>
            <a:srgbClr val="F0F8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93192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03366"/>
                </a:solidFill>
                <a:latin typeface="Courier New"/>
              </a:defRPr>
            </a:pPr>
            <a:r>
              <a:t>f: Classes → T × R × 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000000"/>
                </a:solidFill>
              </a:defRPr>
            </a:pPr>
            <a:r>
              <a:t>Subject to all constraints being satisfied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🧬 Genetic Algorithm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Discrete Optimization in Action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Genetic Algorithm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000000"/>
                </a:solidFill>
              </a:defRPr>
            </a:pPr>
            <a:r>
              <a:t>• Metaheuristic optimization inspired by natural selection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000000"/>
                </a:solidFill>
              </a:defRPr>
            </a:pPr>
            <a:r>
              <a:t>• Operates on principle of 'survival of the fittest'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000000"/>
                </a:solidFill>
              </a:defRPr>
            </a:pPr>
            <a:r>
              <a:t>• Effective for discrete optimization problems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000000"/>
                </a:solidFill>
              </a:defRPr>
            </a:pPr>
            <a:r>
              <a:t>• Key Operations: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000000"/>
                </a:solidFill>
              </a:defRPr>
            </a:pPr>
            <a:r>
              <a:t>•   1. Initialize Population - Random schedules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000000"/>
                </a:solidFill>
              </a:defRPr>
            </a:pPr>
            <a:r>
              <a:t>•   2. Fitness Evaluation - Count constraint violations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000000"/>
                </a:solidFill>
              </a:defRPr>
            </a:pPr>
            <a:r>
              <a:t>•   3. Selection - Tournament selection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000000"/>
                </a:solidFill>
              </a:defRPr>
            </a:pPr>
            <a:r>
              <a:t>•   4. Crossover - Combine parent schedules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000000"/>
                </a:solidFill>
              </a:defRPr>
            </a:pPr>
            <a:r>
              <a:t>•   5. Mutation - Random alterations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000000"/>
                </a:solidFill>
              </a:defRPr>
            </a:pPr>
            <a:r>
              <a:t>•   6. Termination - Return best schedule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🧬 Chromosome Encoding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0000"/>
                </a:solidFill>
              </a:defRPr>
            </a:pPr>
            <a:r>
              <a:t>Each schedule is encoded as a sequence of genes: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19"/>
            <a:ext cx="7772400" cy="731520"/>
          </a:xfrm>
          <a:prstGeom prst="roundRect">
            <a:avLst/>
          </a:prstGeom>
          <a:solidFill>
            <a:srgbClr val="F0F8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7406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03366"/>
                </a:solidFill>
                <a:latin typeface="Courier New"/>
              </a:defRPr>
            </a:pPr>
            <a:r>
              <a:t>Schedule = [Gene₁, Gene₂, ..., Geneₙ]</a:t>
            </a:r>
          </a:p>
          <a:p>
            <a:pPr>
              <a:defRPr sz="1400">
                <a:solidFill>
                  <a:srgbClr val="003366"/>
                </a:solidFill>
                <a:latin typeface="Courier New"/>
              </a:defRPr>
            </a:pPr>
            <a:r>
              <a:t>where Geneᵢ = (courseᵢ, roomᵢ, timeᵢ, instructorᵢ)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000000"/>
                </a:solidFill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457200" y="2926079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0000"/>
                </a:solidFill>
              </a:defRPr>
            </a:pPr>
            <a:r>
              <a:t>Fitness Function: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291839"/>
            <a:ext cx="7772400" cy="548640"/>
          </a:xfrm>
          <a:prstGeom prst="roundRect">
            <a:avLst/>
          </a:prstGeom>
          <a:solidFill>
            <a:srgbClr val="F0F8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383279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03366"/>
                </a:solidFill>
                <a:latin typeface="Courier New"/>
              </a:defRPr>
            </a:pPr>
            <a:r>
              <a:t>fitness(schedule) = 1 / (1 + number_of_conflicts)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23359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000000"/>
                </a:solidFill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000000"/>
                </a:solidFill>
              </a:defRPr>
            </a:pPr>
            <a:r>
              <a:t>Properties: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000000"/>
                </a:solidFill>
              </a:defRPr>
            </a:pPr>
            <a:r>
              <a:t>• Perfect schedule (0 conflicts) has fitness = 1.0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1206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000000"/>
                </a:solidFill>
              </a:defRPr>
            </a:pPr>
            <a:r>
              <a:t>• More conflicts → lower fitness → less likely to survive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⚙️ Genetic Operations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Operation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Mathematical Description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Selection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Tournament: max(fitness) from k individuals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Choose fittest parents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Crossover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Uniform with p=0.5: Gene from A or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Combine successful traits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Mutation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Probability p=0.05: Replace with random gene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Introduce diversity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Elitism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Preserve top 2 schedules unchanged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Prevent loss of best solutions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Discrete Math in Genetic Operators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000000"/>
                </a:solidFill>
              </a:defRPr>
            </a:pPr>
            <a:r>
              <a:t>• Tournament Selection uses: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000000"/>
                </a:solidFill>
              </a:defRPr>
            </a:pPr>
            <a:r>
              <a:t>•   • Combinatorics: C(n,k) ways to select k from n individuals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000000"/>
                </a:solidFill>
              </a:defRPr>
            </a:pPr>
            <a:r>
              <a:t>•   • Probability: Selection proportional to relative fitness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000000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000000"/>
                </a:solidFill>
              </a:defRPr>
            </a:pPr>
            <a:r>
              <a:t>• Crossover applies: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000000"/>
                </a:solidFill>
              </a:defRPr>
            </a:pPr>
            <a:r>
              <a:t>•   • Boolean Algebra: Random boolean decides gene parent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000000"/>
                </a:solidFill>
              </a:defRPr>
            </a:pPr>
            <a:r>
              <a:t>•   • Permutations: Creating new arrangements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000000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000000"/>
                </a:solidFill>
              </a:defRPr>
            </a:pPr>
            <a:r>
              <a:t>• Mutation employs: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000000"/>
                </a:solidFill>
              </a:defRPr>
            </a:pPr>
            <a:r>
              <a:t>•   • Bernoulli trials with p=0.05 for each gene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000000"/>
                </a:solidFill>
              </a:defRPr>
            </a:pPr>
            <a:r>
              <a:t>•   • Uniform random sampling from valid domain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🔒 Constraints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Logical Predicates in Discrete Mathematics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Hard Constraints as Predicate Logic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0000"/>
                </a:solidFill>
              </a:defRPr>
            </a:pPr>
            <a:r>
              <a:t>Section Conflict: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19"/>
            <a:ext cx="7772400" cy="548640"/>
          </a:xfrm>
          <a:prstGeom prst="roundRect">
            <a:avLst/>
          </a:prstGeom>
          <a:solidFill>
            <a:srgbClr val="F0F8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03366"/>
                </a:solidFill>
                <a:latin typeface="Courier New"/>
              </a:defRPr>
            </a:pPr>
            <a:r>
              <a:t>∀ c₁, c₂ ∈ Classes, c₁ ≠ c₂: ¬(section(c₁) = section(c₂) ∧ time(c₁) = time(c₂))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39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0000"/>
                </a:solidFill>
              </a:defRPr>
            </a:pPr>
            <a:r>
              <a:t>Room Conflict: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743199"/>
            <a:ext cx="7772400" cy="548640"/>
          </a:xfrm>
          <a:prstGeom prst="roundRect">
            <a:avLst/>
          </a:prstGeom>
          <a:solidFill>
            <a:srgbClr val="F0F8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834639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03366"/>
                </a:solidFill>
                <a:latin typeface="Courier New"/>
              </a:defRPr>
            </a:pPr>
            <a:r>
              <a:t>∀ c₁, c₂ ∈ Classes, c₁ ≠ c₂: ¬(room(c₁) = room(c₂) ∧ time(c₁) = time(c₂))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0000"/>
                </a:solidFill>
              </a:defRPr>
            </a:pPr>
            <a:r>
              <a:t>Instructor Conflict: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840480"/>
            <a:ext cx="7772400" cy="548640"/>
          </a:xfrm>
          <a:prstGeom prst="roundRect">
            <a:avLst/>
          </a:prstGeom>
          <a:solidFill>
            <a:srgbClr val="F0F8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93192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03366"/>
                </a:solidFill>
                <a:latin typeface="Courier New"/>
              </a:defRPr>
            </a:pPr>
            <a:r>
              <a:t>∀ c₁, c₂ ∈ Classes, c₁ ≠ c₂: ¬(instructor(c₁) = instructor(c₂) ∧ time(c₁) = time(c₂))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0000"/>
                </a:solidFill>
              </a:defRPr>
            </a:pPr>
            <a:r>
              <a:t>Room Capacity: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937760"/>
            <a:ext cx="7772400" cy="548640"/>
          </a:xfrm>
          <a:prstGeom prst="roundRect">
            <a:avLst/>
          </a:prstGeom>
          <a:solidFill>
            <a:srgbClr val="F0F8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0292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03366"/>
                </a:solidFill>
                <a:latin typeface="Courier New"/>
              </a:defRPr>
            </a:pPr>
            <a:r>
              <a:t>∀ c ∈ Classes: capacity(room(c)) ≥ students(course(c))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Conflict Detection as Boolean SAT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0000"/>
                </a:solidFill>
              </a:defRPr>
            </a:pPr>
            <a:r>
              <a:t>The fitness function transforms this into a weighted MAX-SAT problem: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19"/>
            <a:ext cx="7772400" cy="548640"/>
          </a:xfrm>
          <a:prstGeom prst="roundRect">
            <a:avLst/>
          </a:prstGeom>
          <a:solidFill>
            <a:srgbClr val="F0F8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03366"/>
                </a:solidFill>
                <a:latin typeface="Courier New"/>
              </a:defRPr>
            </a:pPr>
            <a:r>
              <a:t>minimize: Σ violation(constraint_i)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77439"/>
            <a:ext cx="7772400" cy="548640"/>
          </a:xfrm>
          <a:prstGeom prst="roundRect">
            <a:avLst/>
          </a:prstGeom>
          <a:solidFill>
            <a:srgbClr val="F0F8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468879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03366"/>
                </a:solidFill>
                <a:latin typeface="Courier New"/>
              </a:defRPr>
            </a:pPr>
            <a:r>
              <a:t>subject to: all hard constraints should have violation =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59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000000"/>
                </a:solidFill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457200" y="3474719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0000"/>
                </a:solidFill>
              </a:defRPr>
            </a:pPr>
            <a:r>
              <a:t>Key Insight: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840479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000000"/>
                </a:solidFill>
              </a:defRPr>
            </a:pPr>
            <a:r>
              <a:t>• Each constraint is a Boolean predicate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000000"/>
                </a:solidFill>
              </a:defRPr>
            </a:pPr>
            <a:r>
              <a:t>• Satisfied constraint = TRUE (violation = 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000000"/>
                </a:solidFill>
              </a:defRPr>
            </a:pPr>
            <a:r>
              <a:t>• Violated constraint = FALSE (violation = 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937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000000"/>
                </a:solidFill>
              </a:defRPr>
            </a:pPr>
            <a:r>
              <a:t>• Goal: Find assignment where all predicates are TRUE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📊 Algorithm Complexity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Performance Analysis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⏱️ Time Complexity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Complexity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Initialization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O(P × n)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Create P random schedules with n classes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Fitness Evaluation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O(n²)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Compare all pairs for conflicts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Selection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O(P × k)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Tournament selection, k size, P times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Crossover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O(P × 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Create P offspring with n genes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Mutation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O(P × n)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Potentially mutate each gene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Per Generation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O(P × n²)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Dominated by fitness evaluation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Total Algorithm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O(G × P × n²)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G generations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Space Complexity &amp; Convergence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000000"/>
                </a:solidFill>
              </a:defRPr>
            </a:pPr>
            <a:r>
              <a:t>• Space Complexity: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000000"/>
                </a:solidFill>
              </a:defRPr>
            </a:pPr>
            <a:r>
              <a:t>•   • Population: O(P × n) - Store P schedules with n classes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000000"/>
                </a:solidFill>
              </a:defRPr>
            </a:pPr>
            <a:r>
              <a:t>•   • Auxiliary: O(n) - Temporary storage during operations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000000"/>
                </a:solidFill>
              </a:defRPr>
            </a:pPr>
            <a:r>
              <a:t>•   • Total: O(P × n) - Linear in population and problem size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000000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000000"/>
                </a:solidFill>
              </a:defRPr>
            </a:pPr>
            <a:r>
              <a:t>• Convergence Properties: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000000"/>
                </a:solidFill>
              </a:defRPr>
            </a:pPr>
            <a:r>
              <a:t>•   • Exploration vs Exploitation: Mutation rate (5%) balances both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000000"/>
                </a:solidFill>
              </a:defRPr>
            </a:pPr>
            <a:r>
              <a:t>•   • Elitism: Ensures monotonic improvement of best fitness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000000"/>
                </a:solidFill>
              </a:defRPr>
            </a:pPr>
            <a:r>
              <a:t>•   • Tournament Selection: Creates selection pressure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000000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000000"/>
                </a:solidFill>
              </a:defRPr>
            </a:pPr>
            <a:r>
              <a:t>• Algorithm terminates when: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000000"/>
                </a:solidFill>
              </a:defRPr>
            </a:pPr>
            <a:r>
              <a:t>•   • Perfect fitness (1.0) achieved, or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000000"/>
                </a:solidFill>
              </a:defRPr>
            </a:pPr>
            <a:r>
              <a:t>•   • Maximum generations (100) reached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🎛️ Algorithm Parameters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Mathematical Rationale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Population Size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Balance between diversity and computation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Elite Schedules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Guarantees monotonic improvement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Tournament Size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~27% of population for selection pressure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Mutation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5% chance per gene for exploration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Max Generations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Convergence typically within 50-100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💻 Application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Django Web Application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Home Page</a:t>
            </a:r>
          </a:p>
        </p:txBody>
      </p:sp>
      <p:pic>
        <p:nvPicPr>
          <p:cNvPr id="3" name="Picture 2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4629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808080"/>
                </a:solidFill>
              </a:defRPr>
            </a:pPr>
            <a:r>
              <a:t>Main dashboard for the timetable scheduler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Add Instructor</a:t>
            </a:r>
          </a:p>
        </p:txBody>
      </p:sp>
      <p:pic>
        <p:nvPicPr>
          <p:cNvPr id="3" name="Picture 2" descr="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4629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808080"/>
                </a:solidFill>
              </a:defRPr>
            </a:pPr>
            <a:r>
              <a:t>Interface for adding new instructors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Add Room</a:t>
            </a:r>
          </a:p>
        </p:txBody>
      </p:sp>
      <p:pic>
        <p:nvPicPr>
          <p:cNvPr id="3" name="Picture 2" descr="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4629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808080"/>
                </a:solidFill>
              </a:defRPr>
            </a:pPr>
            <a:r>
              <a:t>Room management with capacity settings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Add Course</a:t>
            </a:r>
          </a:p>
        </p:txBody>
      </p:sp>
      <p:pic>
        <p:nvPicPr>
          <p:cNvPr id="3" name="Picture 2" descr="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4629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808080"/>
                </a:solidFill>
              </a:defRPr>
            </a:pPr>
            <a:r>
              <a:t>Course creation and instructor assignment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Generated Timetable</a:t>
            </a:r>
          </a:p>
        </p:txBody>
      </p:sp>
      <p:pic>
        <p:nvPicPr>
          <p:cNvPr id="3" name="Picture 2" descr="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4629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808080"/>
                </a:solidFill>
              </a:defRPr>
            </a:pPr>
            <a:r>
              <a:t>Optimized schedule produced by the genetic algorithm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Timetable View</a:t>
            </a:r>
          </a:p>
        </p:txBody>
      </p:sp>
      <p:pic>
        <p:nvPicPr>
          <p:cNvPr id="3" name="Picture 2" descr="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966335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808080"/>
                </a:solidFill>
              </a:defRPr>
            </a:pPr>
            <a:r>
              <a:t>Final timetable display with all assignments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📚 Related Problems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Classical Combinatorial Optimization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Related Discrete Math Problems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000000"/>
                </a:solidFill>
              </a:defRPr>
            </a:pPr>
            <a:r>
              <a:t>• Graph Coloring Problem: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000000"/>
                </a:solidFill>
              </a:defRPr>
            </a:pPr>
            <a:r>
              <a:t>•   • Assign colors to vertices with no adjacent same colors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000000"/>
                </a:solidFill>
              </a:defRPr>
            </a:pPr>
            <a:r>
              <a:t>•   • Scheduling = coloring with time slots as colors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000000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000000"/>
                </a:solidFill>
              </a:defRPr>
            </a:pPr>
            <a:r>
              <a:t>• Bin Packing Problem: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000000"/>
                </a:solidFill>
              </a:defRPr>
            </a:pPr>
            <a:r>
              <a:t>•   • Fit items into minimum containers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000000"/>
                </a:solidFill>
              </a:defRPr>
            </a:pPr>
            <a:r>
              <a:t>•   • Scheduling = packing classes into time slots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000000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000000"/>
                </a:solidFill>
              </a:defRPr>
            </a:pPr>
            <a:r>
              <a:t>• Job Shop Scheduling: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000000"/>
                </a:solidFill>
              </a:defRPr>
            </a:pPr>
            <a:r>
              <a:t>•   • Schedule jobs on machines with precedence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000000"/>
                </a:solidFill>
              </a:defRPr>
            </a:pPr>
            <a:r>
              <a:t>•   • Similar constraint satisfaction structure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000000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000000"/>
                </a:solidFill>
              </a:defRPr>
            </a:pPr>
            <a:r>
              <a:t>• All these are NP-hard → Require heuristic approaches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🎯 Key Takeaways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Summary: Discrete Math in Scheduling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000000"/>
                </a:solidFill>
              </a:defRPr>
            </a:pPr>
            <a:r>
              <a:t>• ✅ CSP Framework: Variables, Domains, Constraints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000000"/>
                </a:solidFill>
              </a:defRPr>
            </a:pPr>
            <a:r>
              <a:t>• ✅ Graph Theory: Scheduling ≡ Graph Coloring (NP-hard)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000000"/>
                </a:solidFill>
              </a:defRPr>
            </a:pPr>
            <a:r>
              <a:t>• ✅ Set Theory: Formal definitions using sets and relations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000000"/>
                </a:solidFill>
              </a:defRPr>
            </a:pPr>
            <a:r>
              <a:t>• ✅ Predicate Logic: Constraints as Boolean predicates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000000"/>
                </a:solidFill>
              </a:defRPr>
            </a:pPr>
            <a:r>
              <a:t>• ✅ Combinatorics: Exponential solution space O((R×T×I)^n)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000000"/>
                </a:solidFill>
              </a:defRPr>
            </a:pPr>
            <a:r>
              <a:t>• ✅ Genetic Algorithm: Polynomial-time heuristic approach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000000"/>
                </a:solidFill>
              </a:defRPr>
            </a:pPr>
            <a:r>
              <a:t>• ✅ Optimization: MAX-SAT formulation for constraint satisfaction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000000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000000"/>
                </a:solidFill>
              </a:defRPr>
            </a:pPr>
            <a:r>
              <a:t>• The power of discrete mathematics transforms complex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000000"/>
                </a:solidFill>
              </a:defRPr>
            </a:pPr>
            <a:r>
              <a:t>• real-world scheduling into solvable algorithmic problems!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You! 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